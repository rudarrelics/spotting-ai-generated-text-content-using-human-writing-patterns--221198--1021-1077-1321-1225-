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FACC1F-522E-45AE-83AF-4A9DDE39322E}" v="59" dt="2026-05-15T15:03:57.07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1546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051560"/>
            <a:ext cx="8046720" cy="21488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Project Presentation of Industry Oriented Hands on Experience (22CS422)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On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Spotting AI-Generated Text Content Using Human Writing Patterns</a:t>
            </a:r>
          </a:p>
          <a:p>
            <a:pPr algn="ctr"/>
            <a:endParaRPr sz="1600" b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Supervised By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Dr. Swati Goel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Assistant Professor, Dept. of Computer Science &amp; Engg.</a:t>
            </a:r>
          </a:p>
          <a:p>
            <a:pPr algn="ctr"/>
            <a:endParaRPr sz="1600" b="0">
              <a:solidFill>
                <a:srgbClr val="000000"/>
              </a:solidFill>
              <a:latin typeface="Times New Roman"/>
            </a:endParaRP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Department of Computer Science and Engineering,</a:t>
            </a:r>
          </a:p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Chitkara University, Punjab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429000"/>
            <a:ext cx="7498079" cy="32004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800" b="1">
                <a:solidFill>
                  <a:srgbClr val="000000"/>
                </a:solidFill>
                <a:latin typeface="Times New Roman"/>
              </a:rPr>
              <a:t>Submitted By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874519" y="3794760"/>
          <a:ext cx="512064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46888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Name of Student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Roll Number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Aditya Kaundal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Anshul Katoch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2211981077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Rudar Partap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6888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Mohit Thakur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Introduction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960120"/>
            <a:ext cx="7498079" cy="4846320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spcAft>
                <a:spcPts val="800"/>
              </a:spcAft>
              <a:defRPr sz="2200">
                <a:latin typeface="Times New Roman"/>
              </a:defRPr>
            </a:pPr>
            <a:r>
              <a:t>• AI tools can now write text that looks very close to human writing.</a:t>
            </a:r>
          </a:p>
          <a:p>
            <a:pPr>
              <a:spcAft>
                <a:spcPts val="800"/>
              </a:spcAft>
              <a:defRPr sz="2200">
                <a:latin typeface="Times New Roman"/>
              </a:defRPr>
            </a:pPr>
            <a:r>
              <a:t>• Because of this, it becomes difficult to know whether a text was written by a person or generated by AI.</a:t>
            </a:r>
          </a:p>
          <a:p>
            <a:pPr>
              <a:spcAft>
                <a:spcPts val="800"/>
              </a:spcAft>
              <a:defRPr sz="2200">
                <a:latin typeface="Times New Roman"/>
              </a:defRPr>
            </a:pPr>
            <a:r>
              <a:t>• Our project detects text as Human Written or AI Generated.</a:t>
            </a:r>
          </a:p>
          <a:p>
            <a:pPr>
              <a:spcAft>
                <a:spcPts val="800"/>
              </a:spcAft>
              <a:defRPr sz="2200">
                <a:latin typeface="Times New Roman"/>
              </a:defRPr>
            </a:pPr>
            <a:r>
              <a:t>• The system uses simple writing patterns and machine learning to make the prediction.</a:t>
            </a:r>
          </a:p>
          <a:p>
            <a:pPr>
              <a:spcAft>
                <a:spcPts val="800"/>
              </a:spcAft>
              <a:defRPr sz="2200">
                <a:latin typeface="Times New Roman"/>
              </a:defRPr>
            </a:pPr>
            <a:r>
              <a:t>• The final model is also shown through a Flask web 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Problem Statement and Objectives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868680"/>
            <a:ext cx="7543800" cy="5074920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Problem: AI-generated text is becoming common in assignments, articles and online content.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Objective 1: Prepare a clean machine learning pipeline for text detection.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Objective 2: Test five models on the same dataset for fair comparison.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Objective 3: Select the best model based on accuracy, speed and model size.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Objective 4: Deploy the selected model in a simple web application.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Team Details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234440" y="1234440"/>
          <a:ext cx="621792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72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72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S. No.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Roll Number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Aditya Kaundal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2211981021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Anshul Katoch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2211981077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Rudar Partap Singh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2211981321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Mohit Thakur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2211981225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1005840" y="3703320"/>
            <a:ext cx="667512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800" b="0">
                <a:solidFill>
                  <a:srgbClr val="000000"/>
                </a:solidFill>
                <a:latin typeface="Times New Roman"/>
              </a:rPr>
              <a:t>Project Mentor: Dr. Swati Goel, Assistant Professor, Department of Computer Science and Engineering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Dataset and Preprocessing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731" y="1543771"/>
            <a:ext cx="8549638" cy="3108543"/>
          </a:xfrm>
          <a:prstGeom prst="rect">
            <a:avLst/>
          </a:prstGeom>
          <a:noFill/>
        </p:spPr>
        <p:txBody>
          <a:bodyPr wrap="square" lIns="76200" tIns="25400" rIns="50800" bIns="25400" anchor="t">
            <a:spAutoFit/>
          </a:bodyPr>
          <a:lstStyle/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t>• Dataset was taken from Kaggle.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t>• Total samples were around 400,000.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t>• Almost half texts were human-written and half were AI-generated.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t>• Only text content was used for prediction.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rPr lang="en-US">
                <a:cs typeface="Times New Roman"/>
              </a:rPr>
              <a:t>• Text was converted to lowercase.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rPr lang="en-US">
                <a:cs typeface="Times New Roman"/>
              </a:rPr>
              <a:t>• Special characters and extra spaces were removed.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rPr lang="en-US">
                <a:cs typeface="Times New Roman"/>
              </a:rPr>
              <a:t>• TF-IDF was used to convert text into numerical features.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rPr lang="en-US">
                <a:cs typeface="Times New Roman"/>
              </a:rPr>
              <a:t>• Unigrams and bigrams were used to capture word and phrase patterns.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Methodology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234440"/>
            <a:ext cx="5669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0000"/>
                </a:solidFill>
                <a:latin typeface="Times New Roman"/>
              </a:defRPr>
            </a:pPr>
            <a:r>
              <a:t>Flow of working of the AI Text Detector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82880" y="1737360"/>
            <a:ext cx="1280160" cy="914400"/>
          </a:xfrm>
          <a:prstGeom prst="roundRect">
            <a:avLst/>
          </a:prstGeom>
          <a:solidFill>
            <a:srgbClr val="E6F8F5"/>
          </a:solidFill>
          <a:ln w="25400">
            <a:solidFill>
              <a:srgbClr val="007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465"/>
                </a:solidFill>
                <a:latin typeface="Times New Roman"/>
              </a:defRPr>
            </a:pPr>
            <a:r>
              <a:t>Text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33776" y="19385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09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797627" y="1737360"/>
            <a:ext cx="1280160" cy="914400"/>
          </a:xfrm>
          <a:prstGeom prst="roundRect">
            <a:avLst/>
          </a:prstGeom>
          <a:solidFill>
            <a:srgbClr val="E6F8F5"/>
          </a:solidFill>
          <a:ln w="25400">
            <a:solidFill>
              <a:srgbClr val="007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465"/>
                </a:solidFill>
                <a:latin typeface="Times New Roman"/>
              </a:defRPr>
            </a:pPr>
            <a:r>
              <a:t>Preprocessing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48523" y="19385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09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01984" y="1737360"/>
            <a:ext cx="1280160" cy="914400"/>
          </a:xfrm>
          <a:prstGeom prst="roundRect">
            <a:avLst/>
          </a:prstGeom>
          <a:solidFill>
            <a:srgbClr val="E6F8F5"/>
          </a:solidFill>
          <a:ln w="25400">
            <a:solidFill>
              <a:srgbClr val="007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465"/>
                </a:solidFill>
                <a:latin typeface="Times New Roman"/>
              </a:defRPr>
            </a:pPr>
            <a:r>
              <a:t>TF-IDF</a:t>
            </a:r>
            <a:br/>
            <a:r>
              <a:t>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3271" y="19385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09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6340" y="1726970"/>
            <a:ext cx="1020388" cy="904009"/>
          </a:xfrm>
          <a:prstGeom prst="roundRect">
            <a:avLst/>
          </a:prstGeom>
          <a:solidFill>
            <a:srgbClr val="E6F8F5"/>
          </a:solidFill>
          <a:ln w="25400">
            <a:solidFill>
              <a:srgbClr val="007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465"/>
                </a:solidFill>
                <a:latin typeface="Times New Roman"/>
              </a:defRPr>
            </a:pPr>
            <a:r>
              <a:t>Train 5</a:t>
            </a:r>
            <a:br/>
            <a:r>
              <a:t>Models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464" y="19385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09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2878" y="1716578"/>
            <a:ext cx="1280160" cy="904010"/>
          </a:xfrm>
          <a:prstGeom prst="roundRect">
            <a:avLst/>
          </a:prstGeom>
          <a:solidFill>
            <a:srgbClr val="E6F8F5"/>
          </a:solidFill>
          <a:ln w="25400">
            <a:solidFill>
              <a:srgbClr val="007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465"/>
                </a:solidFill>
                <a:latin typeface="Times New Roman"/>
              </a:defRPr>
            </a:pPr>
            <a:r>
              <a:t>Compare</a:t>
            </a:r>
            <a:br/>
            <a:r>
              <a:t>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3775" y="1938528"/>
            <a:ext cx="25603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00B09B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76062" y="1726970"/>
            <a:ext cx="958042" cy="904009"/>
          </a:xfrm>
          <a:prstGeom prst="roundRect">
            <a:avLst/>
          </a:prstGeom>
          <a:solidFill>
            <a:srgbClr val="E6F8F5"/>
          </a:solidFill>
          <a:ln w="25400">
            <a:solidFill>
              <a:srgbClr val="00746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007465"/>
                </a:solidFill>
                <a:latin typeface="Times New Roman"/>
              </a:defRPr>
            </a:pPr>
            <a:r>
              <a:t>Flask Web</a:t>
            </a:r>
            <a:br/>
            <a:r>
              <a:t>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154680"/>
            <a:ext cx="104241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First, text data is collected from the dataset.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Then the text is cleaned and converted into TF-IDF features.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After that, five machine learning models are trained and compared.</a:t>
            </a:r>
          </a:p>
          <a:p>
            <a:pPr>
              <a:spcAft>
                <a:spcPts val="400"/>
              </a:spcAft>
              <a:defRPr sz="2000">
                <a:solidFill>
                  <a:srgbClr val="000000"/>
                </a:solidFill>
                <a:latin typeface="Times New Roman"/>
              </a:defRPr>
            </a:pPr>
            <a:r>
              <a:t>Finally, the best model is used in the Flask website for real-time prediction.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Models Tested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7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40080" y="1051560"/>
          <a:ext cx="7315200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34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Easy Explanation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Basic and very fast text classification model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Makes decisions using if-else type rules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Uses many decision trees together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SVM (Linear)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Works well with large text feature spaces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342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Simple, accurate, fast and easy to deploy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Performance Comparison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8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914400"/>
          <a:ext cx="813816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76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76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62939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91.24%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90.8%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91.2%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93.67%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93.6%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96.41%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96.0%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96.8%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96.4%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2939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SVM (Linear)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97.83%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97.8%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2944"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98.88%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99.0%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5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98.8%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" y="5166360"/>
            <a:ext cx="7315200" cy="64008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900" b="0">
                <a:solidFill>
                  <a:srgbClr val="000000"/>
                </a:solidFill>
                <a:latin typeface="Times New Roman"/>
              </a:rPr>
              <a:t>Logistic Regression performed best with 98.88% accuracy, so it was selected for deployment.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Why Logistic Regression Was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729" y="1367481"/>
            <a:ext cx="7543800" cy="4983480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It gave the highest accuracy: 98.88%.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It is lightweight and has a small model size of 1.9 MB.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It gives prediction very fast, around 2 ms inference latency.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It directly provides confidence/probability score.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It is easier to explain than complex deep learning models.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Operational Efficiency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960120"/>
          <a:ext cx="77724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3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5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Training Time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Times New Roman"/>
                        </a:defRPr>
                      </a:pPr>
                      <a:r>
                        <a:t>Model Size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Naive Bayes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3.2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&lt; 1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0.8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Decision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18.7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14.3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312.4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47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218.6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SVM (Linear)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87.3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3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2.1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054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24.6 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2 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0000"/>
                          </a:solidFill>
                          <a:latin typeface="Times New Roman"/>
                        </a:defRPr>
                      </a:pPr>
                      <a:r>
                        <a:t>1.9 MB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731520" y="4343400"/>
            <a:ext cx="7132320" cy="1280160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t>• Random Forest was accurate but heavy and slow compared to Logistic Regression.</a:t>
            </a:r>
          </a:p>
          <a:p>
            <a:pPr>
              <a:spcAft>
                <a:spcPts val="800"/>
              </a:spcAft>
              <a:defRPr sz="1900">
                <a:latin typeface="Times New Roman"/>
              </a:defRPr>
            </a:pPr>
            <a:r>
              <a:t>• Logistic Regression is best for a simple local Flask web application.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Website Snapshot: Main Interface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11</a:t>
            </a:r>
          </a:p>
        </p:txBody>
      </p:sp>
      <p:pic>
        <p:nvPicPr>
          <p:cNvPr id="9" name="Picture 8" descr="F80E034B-ADD9-44EC-BCFE-AC6D10C19B0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1695412"/>
            <a:ext cx="6172200" cy="291853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35818" y="5342238"/>
            <a:ext cx="7521145" cy="3949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Main interface where user can paste text and run detection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Website Snapshot: Pasted Text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12</a:t>
            </a:r>
          </a:p>
        </p:txBody>
      </p:sp>
      <p:pic>
        <p:nvPicPr>
          <p:cNvPr id="9" name="Picture 8" descr="BE14F773-071B-4B44-8364-0D3F0938EC6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68887"/>
            <a:ext cx="3749039" cy="1748626"/>
          </a:xfrm>
          <a:prstGeom prst="rect">
            <a:avLst/>
          </a:prstGeom>
        </p:spPr>
      </p:pic>
      <p:pic>
        <p:nvPicPr>
          <p:cNvPr id="10" name="Picture 9" descr="8BFD27AB-36A3-4370-B509-4270087B3BB2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1855742"/>
            <a:ext cx="3749039" cy="177491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02920" y="4663440"/>
            <a:ext cx="3749039" cy="64120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000" b="0">
                <a:solidFill>
                  <a:srgbClr val="000000"/>
                </a:solidFill>
                <a:latin typeface="Times New Roman"/>
              </a:rPr>
              <a:t>Human Written result with confidence score</a:t>
            </a:r>
            <a:endParaRPr lang="en-US" sz="2000" b="0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0" y="4663440"/>
            <a:ext cx="3749039" cy="764312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AI Generated result with confidence score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Website Snapshot: Upload File Option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13</a:t>
            </a:r>
          </a:p>
        </p:txBody>
      </p:sp>
      <p:pic>
        <p:nvPicPr>
          <p:cNvPr id="9" name="Picture 8" descr="A160068B-7BDE-4CB9-9A2D-902A7E4F5DF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26996"/>
            <a:ext cx="6217920" cy="2855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5532120"/>
            <a:ext cx="6217920" cy="2286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300" b="0">
                <a:solidFill>
                  <a:srgbClr val="000000"/>
                </a:solidFill>
                <a:latin typeface="Times New Roman"/>
              </a:rPr>
              <a:t>Upload section supports PDF, DOCX, DOC, PPTX, PPT, TXT, MD and RTF files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Website Snapshot: File Selected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14</a:t>
            </a:r>
          </a:p>
        </p:txBody>
      </p:sp>
      <p:pic>
        <p:nvPicPr>
          <p:cNvPr id="9" name="Picture 8" descr="F575F0FE-FA86-47FA-BB41-F89A3981255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1784272"/>
            <a:ext cx="6217920" cy="274081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5532120"/>
            <a:ext cx="6217920" cy="3949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400" b="0">
                <a:solidFill>
                  <a:srgbClr val="000000"/>
                </a:solidFill>
                <a:latin typeface="Times New Roman"/>
              </a:rPr>
              <a:t>Uploaded file example: cs book.pdf</a:t>
            </a:r>
            <a:endParaRPr lang="en-US" sz="2400" b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Website Snapshot: Uploaded File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15</a:t>
            </a:r>
          </a:p>
        </p:txBody>
      </p:sp>
      <p:pic>
        <p:nvPicPr>
          <p:cNvPr id="9" name="Picture 8" descr="DE3AF083-B6BA-4068-8CE6-C2B377A94DAA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6747" y="1712892"/>
            <a:ext cx="6217920" cy="288357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5532120"/>
            <a:ext cx="7247649" cy="3949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/>
            <a:r>
              <a:rPr sz="2400" b="0" dirty="0">
                <a:solidFill>
                  <a:srgbClr val="000000"/>
                </a:solidFill>
                <a:latin typeface="Times New Roman"/>
              </a:rPr>
              <a:t>The uploaded PDF is </a:t>
            </a:r>
            <a:r>
              <a:rPr sz="2400" b="0" dirty="0" err="1">
                <a:solidFill>
                  <a:srgbClr val="000000"/>
                </a:solidFill>
                <a:latin typeface="Times New Roman"/>
              </a:rPr>
              <a:t>analyzed</a:t>
            </a:r>
            <a:r>
              <a:rPr sz="2400" b="0" dirty="0">
                <a:solidFill>
                  <a:srgbClr val="000000"/>
                </a:solidFill>
                <a:latin typeface="Times New Roman"/>
              </a:rPr>
              <a:t> and a final verdict is shown</a:t>
            </a:r>
            <a:endParaRPr lang="en-US" sz="2400" b="0" dirty="0">
              <a:solidFill>
                <a:srgbClr val="000000"/>
              </a:solidFill>
              <a:latin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91440"/>
            <a:ext cx="6400800" cy="5029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Times New Roman"/>
              </a:rPr>
              <a:t>Conclusion and Future Scope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4729" y="1599788"/>
            <a:ext cx="7498079" cy="5120640"/>
          </a:xfrm>
          <a:prstGeom prst="rect">
            <a:avLst/>
          </a:prstGeom>
          <a:noFill/>
        </p:spPr>
        <p:txBody>
          <a:bodyPr wrap="square" lIns="76200" tIns="25400" rIns="50800" bIns="25400">
            <a:spAutoFit/>
          </a:bodyPr>
          <a:lstStyle/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This project detects whether text is Human Written or AI Generated.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Five machine learning models were compared on the same dataset.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Logistic Regression gave the best result and was deployed in a Flask web application.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The system can check pasted text and uploaded documents.</a:t>
            </a:r>
          </a:p>
          <a:p>
            <a:pPr>
              <a:spcAft>
                <a:spcPts val="800"/>
              </a:spcAft>
              <a:defRPr sz="2100">
                <a:latin typeface="Times New Roman"/>
              </a:defRPr>
            </a:pPr>
            <a:r>
              <a:t>• Future improvement can include newer AI data, sentence-level features and transformer models.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298448" y="2743200"/>
            <a:ext cx="6583680" cy="91440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4400" b="0">
                <a:solidFill>
                  <a:srgbClr val="000000"/>
                </a:solidFill>
                <a:latin typeface="Times New Roman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6355080"/>
            <a:ext cx="1828800" cy="274320"/>
          </a:xfrm>
          <a:prstGeom prst="rect">
            <a:avLst/>
          </a:prstGeom>
          <a:noFill/>
        </p:spPr>
        <p:txBody>
          <a:bodyPr wrap="square" lIns="25400" tIns="12700" rIns="25400" bIns="12700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Times New Roman"/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2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34700</TotalTime>
  <Words>79</Words>
  <Application>Microsoft Office PowerPoint</Application>
  <PresentationFormat>On-screen Show (4:3)</PresentationFormat>
  <Paragraphs>30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simar virk</cp:lastModifiedBy>
  <cp:revision>2332</cp:revision>
  <dcterms:created xsi:type="dcterms:W3CDTF">2010-04-09T07:36:15Z</dcterms:created>
  <dcterms:modified xsi:type="dcterms:W3CDTF">2026-05-15T15:04:12Z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